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20" y="914400"/>
            <a:ext cx="4343400" cy="4846320"/>
          </a:xfrm>
          <a:prstGeom prst="roundRect">
            <a:avLst/>
          </a:prstGeom>
          <a:solidFill>
            <a:srgbClr val="112B47"/>
          </a:solidFill>
          <a:ln w="1270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0" y="2331720"/>
            <a:ext cx="3657600" cy="24360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416052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C7D7E7"/>
                </a:solidFill>
                <a:latin typeface="Aptos"/>
              </a:rPr>
              <a:t>AI-native · IT + OT · Trust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676656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7DBA3B"/>
                </a:solidFill>
                <a:latin typeface="Aptos Display"/>
              </a:rPr>
              <a:t>Avocado.ai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6400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AI-native Security Validation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&amp; OT Trust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06324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C7D7E7"/>
                </a:solidFill>
                <a:latin typeface="Aptos"/>
              </a:rPr>
              <a:t>We turn threat intelligence, alerts and AI red-team automation into verified defense outcomes — across IT and 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224528"/>
            <a:ext cx="2560320" cy="365760"/>
          </a:xfrm>
          <a:prstGeom prst="roundRect">
            <a:avLst/>
          </a:prstGeom>
          <a:solidFill>
            <a:srgbClr val="112B47"/>
          </a:solidFill>
          <a:ln w="1270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224528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8A745"/>
                </a:solidFill>
                <a:latin typeface="Aptos"/>
              </a:rPr>
              <a:t>Strategic Angel / Seed Pitch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224528"/>
            <a:ext cx="868680" cy="365760"/>
          </a:xfrm>
          <a:prstGeom prst="roundRect">
            <a:avLst/>
          </a:prstGeom>
          <a:solidFill>
            <a:srgbClr val="112B4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224528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6B6D4"/>
                </a:solidFill>
                <a:latin typeface="Aptos"/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292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Bigger story:  Detect → Validate → Prove →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A8BED1"/>
                </a:solidFill>
                <a:latin typeface="Aptos"/>
              </a:rPr>
              <a:t>Avocado.ai  |  SenseL Investor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Security teams are overwhelmed — and OT is the blind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7162D"/>
                </a:solidFill>
                <a:latin typeface="Aptos"/>
              </a:rPr>
              <a:t>Enterprises don't need another dashboard. They need a validation loop that connects intelligence, alerts, evidence and improvement — including 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33172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Fragmented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EDR, NDR, WAF, firewall and OT logs do not naturally explain each other.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233172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Non-actionable CTI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IoCs, CVEs and supply-chain news rarely become testable defense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233172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Unproven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Customers cannot easily prove whether controls detect, block and respond.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2331720"/>
            <a:ext cx="420624" cy="4206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ptos"/>
              </a:rPr>
              <a:t>OT trust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OT devices have no hardware identity, no quantum-safe channels, no zero-trust enforcement.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828032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828032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Core gap:  “What happened?” is not enough. Customers need to know “Did our defense actually work?”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AI, validation, and zero-trust OT are converging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173736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AI changes attack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AI accelerates phishing, recon, malware variation and attack automation — defenders need AI agents for analysis and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7" y="379476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8A745"/>
                </a:solidFill>
                <a:latin typeface="Aptos"/>
              </a:rPr>
              <a:t>AI-assisted security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55448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173736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737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Buyers demand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67712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Budgets rise, but CISOs and boards ask whether EDR, NDR, WAF and OT controls actually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2856" y="379476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Continuous security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55448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5" y="173736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5" y="1737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OT + Zero-Trust + PQC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267712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Factories and critical infrastructure face zero-trust mandates and post-quantum migration — with no enterprise SOC to lean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3" y="379476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37673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ptos"/>
              </a:rPr>
              <a:t>Future-proof OT trust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89204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89204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Security is shifting from manual monitoring to AI-driven validation. SenseL is built for that shift — IT and 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SenseL: AI-native Security Validation, extended to 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7162D"/>
                </a:solidFill>
                <a:latin typeface="Aptos"/>
              </a:rPr>
              <a:t>SenseL connects threat intelligence, telemetry and AI red-team automation to continuously validate whether enterprise and OT defenses actually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33172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EDR / NDR / WAF / OT telemetry / firewall / CTI / CVE / IoC / news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55263" y="2971800"/>
            <a:ext cx="10972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4136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233172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AI agents correlate alerts, generate hypotheses and map scenarios to MITRE ATT&amp;CK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1032" y="2971800"/>
            <a:ext cx="10972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9904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4496" y="233172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AI Red Team + BAS workflows test whether controls detect, block and respond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86800" y="2971800"/>
            <a:ext cx="10972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05672" y="2148840"/>
            <a:ext cx="25786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70264" y="2331720"/>
            <a:ext cx="420624" cy="4206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233172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ptos"/>
              </a:rP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862072"/>
            <a:ext cx="22128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Evidence-linked reports, defense gaps, remediation playbooks and executive summaries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828032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828032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SenseL helps customers move from security monitoring to verified defense outcomes — now including OT trust.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Product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Telemetry → Intelligence → Validation → Operations</a:t>
            </a:r>
          </a:p>
        </p:txBody>
      </p:sp>
      <p:pic>
        <p:nvPicPr>
          <p:cNvPr id="6" name="Picture 5" descr="slide5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79" y="1188720"/>
            <a:ext cx="8123681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0120" y="5870448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5870448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One platform connects existing tools, CTI, AI red-team automation and customer-ready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Commercial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Land with WAF, expand with XDR, scale into OT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173736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WAF MSSP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Fastest revenue entry. Radware WAF integration + DNS onboarding for SMBs, schools and websites.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7673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8A745"/>
                </a:solidFill>
                <a:latin typeface="Aptos"/>
              </a:rPr>
              <a:t>Low-friction onboarding · Recurring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55448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173736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737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XDR / AI SOC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267712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Core platform expansion. EDR, NDR, firewall, CTI and AI reporting for managed security operations.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7673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563EB"/>
                </a:solidFill>
                <a:latin typeface="Aptos"/>
              </a:rPr>
              <a:t>Monthly managed service · Exec reporting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5448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73736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5" y="1737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OT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267712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Premium vertical. Energy &amp; equipment telemetry becomes OT evidence, anomaly validation and trust assurance.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3767328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7C3AED"/>
                </a:solidFill>
                <a:latin typeface="Aptos"/>
              </a:rPr>
              <a:t>Higher-value accounts · Strong differentiation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89204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9204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WAF gets us in. XDR expands the account. OT creates premium differentiation and a defensible trust moat.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SenseL OT — Layer A / B /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From industrial data → AI insights → validated, trusted actions</a:t>
            </a:r>
          </a:p>
        </p:txBody>
      </p:sp>
      <p:pic>
        <p:nvPicPr>
          <p:cNvPr id="6" name="Picture 5" descr="slide9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79" y="1188720"/>
            <a:ext cx="8123681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0120" y="5870448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5870448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OT thesis: start with measurable energy / ESG value, then expand into evidence-based OT resilience and security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OT Edge &amp; Device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Passive-first edge sensor — see everything, disrupt nothing</a:t>
            </a:r>
          </a:p>
        </p:txBody>
      </p:sp>
      <p:pic>
        <p:nvPicPr>
          <p:cNvPr id="6" name="Picture 5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384048"/>
            <a:ext cx="1554480" cy="103530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69164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187452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Device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04872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Three discovery tracks: sensor self-registration, EdgeX active devices (Modbus/OPC-UA/S7), and zero-risk passive mirror discovery.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69164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187452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8745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Device-Side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404872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OT-001~019 detection: network behavior, IEC 61850 (GOOSE/MMS) and CTI IoC matching — with evidence capture.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69164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187452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5" y="18745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CTI &amp; Rule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404872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Cloud produces signed policy; edge subscribes over MQTT/HTTP and hot-reloads blacklists, rules and baselines.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52628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52628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Deployed on industrial gateways / Raspberry Pi. Passive by design — no process disruption, full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49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334155"/>
                </a:solidFill>
                <a:latin typeface="Aptos"/>
              </a:rPr>
              <a:t>Edge runs offline-resilient with local buffering. Today the edge alerts and recommends; enforcement is the partner-enabled next step (ZTNA).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The Trust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Explainable, behavior-based trust for every OT 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7162D"/>
                </a:solidFill>
                <a:latin typeface="Aptos"/>
              </a:rPr>
              <a:t>Layer B computes a continuous, auditable trust score per entity — the core of our OT differentiation.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578608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2996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Healthy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59152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≥ 0.85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965960"/>
            <a:ext cx="2578608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02996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6B6D4"/>
                </a:solidFill>
                <a:latin typeface="Aptos"/>
              </a:rPr>
              <a:t>Suspicious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359152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≥ 0.70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965960"/>
            <a:ext cx="2578608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9904" y="202996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ptos"/>
              </a:rPr>
              <a:t>Degraded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359152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≥ 0.50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05672" y="1965960"/>
            <a:ext cx="2578608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202996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359152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&lt; 0.50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92608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" y="310896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089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Penalty /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639312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Trust drops on malicious episodes (severity · recurrence · sequence anomaly · confidence) and recovers slowly when clean.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9976" y="292608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44568" y="310896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31089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Risk Propagation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639312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 degraded/critical entity spreads risk along a trust graph (identity → workstation → PLC), fully audited.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292608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66175" y="310896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5" y="31089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Trust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3" y="3639312"/>
            <a:ext cx="3200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Discrete alerts on critical drops, multi high-risk labels, and C2 + exfiltration combinations.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502920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02920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Not “LLM over logs.” A formula-driven, explainable trust engine that security and OT teams can audit.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OT Trust Layer &amp; Strategic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Identity + Channel + Access + Behavior = one Unified Trust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2578608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2578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7C3AED"/>
                </a:solidFill>
                <a:latin typeface="Aptos Display"/>
              </a:rPr>
              <a:t>PUF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Aptos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06040"/>
            <a:ext cx="221284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Hardware root of identity — unclonable device ID, key wrapping, attestation.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554480"/>
            <a:ext cx="2578608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737360"/>
            <a:ext cx="2578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563EB"/>
                </a:solidFill>
                <a:latin typeface="Aptos Display"/>
              </a:rPr>
              <a:t>PQC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194560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Aptos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606040"/>
            <a:ext cx="221284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Quantum-safe channels &amp; signatures — mTLS and end-to-end signed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554480"/>
            <a:ext cx="2578608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1737360"/>
            <a:ext cx="2578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ptos Display"/>
              </a:rPr>
              <a:t>ZTNA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194560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Aptos"/>
              </a:rP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606040"/>
            <a:ext cx="221284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Device posture, dynamic authorization, micro-segmentation and enforcement.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5672" y="1554480"/>
            <a:ext cx="2578608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737360"/>
            <a:ext cx="25786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8A745"/>
                </a:solidFill>
                <a:latin typeface="Aptos Display"/>
              </a:rPr>
              <a:t>SenseL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194560"/>
            <a:ext cx="2578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4748B"/>
                </a:solidFill>
                <a:latin typeface="Aptos"/>
              </a:rPr>
              <a:t>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606040"/>
            <a:ext cx="221284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Existing behavioral trust engine — entity state, alerts, propagation.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617720"/>
            <a:ext cx="10287000" cy="777240"/>
          </a:xfrm>
          <a:prstGeom prst="round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617720"/>
            <a:ext cx="9738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Fused into one </a:t>
            </a:r>
            <a:r>
              <a:rPr sz="1700" b="1">
                <a:solidFill>
                  <a:srgbClr val="7DBA3B"/>
                </a:solidFill>
                <a:latin typeface="Aptos"/>
              </a:rPr>
              <a:t>Unified Trust Score</a:t>
            </a:r>
            <a:r>
              <a:rPr sz="1600" b="1">
                <a:solidFill>
                  <a:srgbClr val="FFFFFF"/>
                </a:solidFill>
                <a:latin typeface="Aptos"/>
              </a:rPr>
              <a:t> that drives real-time access and isolation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6235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8A745"/>
                </a:solidFill>
                <a:latin typeface="Aptos"/>
              </a:rPr>
              <a:t>Partner play:  </a:t>
            </a:r>
            <a:r>
              <a:rPr sz="1300" b="0">
                <a:solidFill>
                  <a:srgbClr val="334155"/>
                </a:solidFill>
                <a:latin typeface="Aptos"/>
              </a:rPr>
              <a:t>PUF, PQC and ZTNA partners migrate into the SenseL Trust Layer — making OT validation defensible, future-proof and standards-aligned (NIST PQC).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AI Red Team Validation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From threat intelligence to verified defense</a:t>
            </a:r>
          </a:p>
        </p:txBody>
      </p:sp>
      <p:pic>
        <p:nvPicPr>
          <p:cNvPr id="6" name="Picture 5" descr="slide11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774" y="1234440"/>
            <a:ext cx="7879970" cy="4434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0120" y="5870448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5870448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Every new threat becomes a testable scenario, and every test creates evidence — the engine that powers SenseL.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Technical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Evidence Chain + Agentic Eval + OT Trust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7162D"/>
                </a:solidFill>
                <a:latin typeface="Aptos"/>
              </a:rPr>
              <a:t>The moat is the evidence, evaluation and trust loop around the model — not the model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566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14884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Evidence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79191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Every alert, IoC, hypothesis, scenario, telemetry record and action is linked into traceable evidence — prove what happened and what was 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65960"/>
            <a:ext cx="3566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214884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14884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Agentic 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679191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AI agents, red-team workflows and defense outcomes are evaluated for accuracy, safety and reliability — reducing hallucination and unsafe automation.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965960"/>
            <a:ext cx="3566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214884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5" y="214884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OT Trust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679191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Explainable trust scoring + PUF/PQC/ZTNA integration creates a defensible, standards-aligned OT moat competitors can't copy quickly.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98348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98348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Our moat is the evidence and evaluation loop — and an OT trust layer that gets stronger with every deployment.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Traction — WAF MSSP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Revenue-ready wedge with Radware / DNS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7162D"/>
                </a:solidFill>
                <a:latin typeface="Aptos"/>
              </a:rPr>
              <a:t>WAF is the fastest near-term entry: clear pain, light onboarding, recurring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5786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2578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8A745"/>
                </a:solidFill>
                <a:latin typeface="Aptos Display"/>
              </a:rPr>
              <a:t>Radware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87168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WAF API integration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874519"/>
            <a:ext cx="25786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2011680"/>
            <a:ext cx="2578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2563EB"/>
                </a:solidFill>
                <a:latin typeface="Aptos Display"/>
              </a:rPr>
              <a:t>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487168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CNAME / A record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874519"/>
            <a:ext cx="25786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9904" y="2011680"/>
            <a:ext cx="2578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7C3AED"/>
                </a:solidFill>
                <a:latin typeface="Aptos Display"/>
              </a:rPr>
              <a:t>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487168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Multi-tenant UI + mock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05672" y="1874519"/>
            <a:ext cx="257860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2011680"/>
            <a:ext cx="2578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59E0B"/>
                </a:solidFill>
                <a:latin typeface="Aptos Display"/>
              </a:rPr>
              <a:t>3–10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487168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Initial website targets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5468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" y="333756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37560"/>
            <a:ext cx="4480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Current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2"/>
            <a:ext cx="49834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Radware WAF API / Postman reference reviewed; DNS onboarding and multi-tenant service workflow in implementation for MSSP operation.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5468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79" y="333756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337560"/>
            <a:ext cx="4480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Evidence to 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867912"/>
            <a:ext cx="49834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Partner letter, first customer list, demo screenshots, onboarding time, WAF event examples, pricing sheet, conversion timeline.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98348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98348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Investor takeaway: WAF creates the first repeatable commercial package and validates partner-led go-to-market.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Traction — XDR / AI SOC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Core platform validation across EDR, NDR and AI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237744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Account / Partner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508760"/>
            <a:ext cx="228600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0876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508760"/>
            <a:ext cx="292608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50876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Status /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508760"/>
            <a:ext cx="274320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50876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Commercial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920240"/>
            <a:ext cx="105887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920240"/>
            <a:ext cx="91440" cy="78638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920240"/>
            <a:ext cx="22402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8A745"/>
                </a:solidFill>
                <a:latin typeface="Aptos"/>
              </a:rPr>
              <a:t>Tung's Hospital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920240"/>
            <a:ext cx="21945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Wazuh EDR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920240"/>
            <a:ext cx="28346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June 2026 target: &gt;500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920240"/>
            <a:ext cx="26060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Healthcare XDR reference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79776"/>
            <a:ext cx="105887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79776"/>
            <a:ext cx="91440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779776"/>
            <a:ext cx="22402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鼎新 智管家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779776"/>
            <a:ext cx="21945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SentinelOne + FortiSIEM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779776"/>
            <a:ext cx="28346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XDR with enterprise software 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779776"/>
            <a:ext cx="26060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Retail / ERP distribution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639312"/>
            <a:ext cx="105887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639312"/>
            <a:ext cx="91440" cy="7863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639312"/>
            <a:ext cx="22402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ptos"/>
              </a:rPr>
              <a:t>Qsec / Arista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639312"/>
            <a:ext cx="21945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NDR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39312"/>
            <a:ext cx="28346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NDR integrates with Arista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9312"/>
            <a:ext cx="26060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Network security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498848"/>
            <a:ext cx="105887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498848"/>
            <a:ext cx="91440" cy="7863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498848"/>
            <a:ext cx="224028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59E0B"/>
                </a:solidFill>
                <a:latin typeface="Aptos"/>
              </a:rPr>
              <a:t>SenseL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498848"/>
            <a:ext cx="21945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AI executive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498848"/>
            <a:ext cx="28346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EDR / NDR / CTI evidence into monthly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498848"/>
            <a:ext cx="26060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AI SOC 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5404103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5404103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ptos"/>
              </a:rPr>
              <a:t>XDR / AI SOC turns field deployments into repeatable managed operations, feeding EDR/NDR/CTI evidence into SenseL reports.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Traction — SenseL 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Energy data is the entry; OT security validation is the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187452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Smart Meter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04872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Entered a semiconductor-line smart clamp meter ESG + OT analytics PoC. Q3 completion planned.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44568" y="187452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8745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OT Security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404872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Q4 expansion from energy/ESG analytics toward OT cybersecurity validation and trust scoring.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9164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5" y="187452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5" y="187452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Edge + Trust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2404872"/>
            <a:ext cx="32004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RelayGuard edge sensor + Layer A/B/C trust engine + PUF/PQC/ZTNA partner roadmap.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52628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52628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OT vertical thesis: measurable energy / ESG value first, then evidence-based OT resilience and security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49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8A745"/>
                </a:solidFill>
                <a:latin typeface="Aptos"/>
              </a:rPr>
              <a:t>Evidence to add:  </a:t>
            </a:r>
            <a:r>
              <a:rPr sz="1300" b="0">
                <a:solidFill>
                  <a:srgbClr val="334155"/>
                </a:solidFill>
                <a:latin typeface="Aptos"/>
              </a:rPr>
              <a:t>PoC scope, smart clamp meter architecture, Q3 acceptance criteria, Q4 OT security expansion plan, and partner LOIs for the trust layer.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Traction — 2026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Concrete milestones turning vision into Taiwan market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57860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178308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Hsinchu Industry SIG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221284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Cooperate with Hsinchu Industrial Union on a cybersecurity SIG plan (Q3/Q4 2026); SenseL for supply-chain SMB adoption.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4023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8A745"/>
                </a:solidFill>
                <a:latin typeface="Aptos"/>
              </a:rPr>
              <a:t>Go-to-market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600200"/>
            <a:ext cx="257860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178308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MoDA Cybersecurity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313432"/>
            <a:ext cx="221284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Applying for cybersecurity capability registration and self-developed R&amp;D recognition for Taiwan market entry.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4023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Market qualification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1600200"/>
            <a:ext cx="257860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78308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OT Smart Meter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313432"/>
            <a:ext cx="221284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Semiconductor-line smart clamp meter ESG + OT analytics PoC; Q3 completion, Q4 OT cybersecurity expansion.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4023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ptos"/>
              </a:rPr>
              <a:t>Premium vertical proof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5672" y="1600200"/>
            <a:ext cx="257860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264" y="1783080"/>
            <a:ext cx="420624" cy="4206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ptos"/>
              </a:rPr>
              <a:t>MOEA SBIR Submission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2313432"/>
            <a:ext cx="2212848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R&amp;D proposal submitted to MOEA SBIR, targeting Q3 execution to support the SenseL validation engine.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4023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Non-dilutive leverage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98348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98348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Signal: early access to supply-chain SMBs, OT semiconductor use cases, Taiwan cybersecurity programs and SBIR R&amp;D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One platform, multiple recurring revenue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57860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178308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Platform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13432"/>
            <a:ext cx="221284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Tenants, protected assets, endpoints, websites and OT data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886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8A745"/>
                </a:solidFill>
                <a:latin typeface="Aptos"/>
              </a:rPr>
              <a:t>Monthly / annual SaaS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600200"/>
            <a:ext cx="257860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178308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Managed Security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313432"/>
            <a:ext cx="221284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AI-assisted WAF MSSP, XDR monitoring, incident summary and monthly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886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Recurring service fee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1600200"/>
            <a:ext cx="257860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78308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Validation-as-a-Service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313432"/>
            <a:ext cx="221284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AI Red Team validation, BAS scenarios, defense effectiveness and evidence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3886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ptos"/>
              </a:rPr>
              <a:t>Per assessment / package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5672" y="1600200"/>
            <a:ext cx="257860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264" y="1783080"/>
            <a:ext cx="420624" cy="4206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1783080"/>
            <a:ext cx="17099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ptos"/>
              </a:rPr>
              <a:t>Partner Revenue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2313432"/>
            <a:ext cx="221284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SI, MSSP, WAF providers, OT and trust-layer partners (PUF/PQC/ZTNA).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3886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Revenue share / reseller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89204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89204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Land through services, expand through subscriptions, scale through partners.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Partner-led, vertical-focused, validation-driven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63040"/>
            <a:ext cx="146304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6304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463040"/>
            <a:ext cx="283464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46304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Who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463040"/>
            <a:ext cx="301752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1463040"/>
            <a:ext cx="28346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What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017520" cy="41148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28346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874519"/>
            <a:ext cx="10588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874519"/>
            <a:ext cx="91440" cy="749808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874519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8A745"/>
                </a:solidFill>
                <a:latin typeface="Aptos"/>
              </a:rP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874519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SMB / school / website owners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874519"/>
            <a:ext cx="2926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WAF MSSP + SIG SMB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74519"/>
            <a:ext cx="2880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Fast recurring revenue + SMB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97479"/>
            <a:ext cx="10588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697479"/>
            <a:ext cx="91440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697479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Q3–Q4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697479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Healthcare / retail / SMB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697479"/>
            <a:ext cx="2926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XDR + AI SOC + Red Team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97479"/>
            <a:ext cx="2880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Managed security + closed-loop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20439"/>
            <a:ext cx="10588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520439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520439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ptos"/>
              </a:rPr>
              <a:t>Q3–Q4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520439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Factory / semiconductor 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520439"/>
            <a:ext cx="2926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SenseL OT smart meter PoC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520439"/>
            <a:ext cx="2880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Complete OT analytics, expand to OT security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343400"/>
            <a:ext cx="105887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343400"/>
            <a:ext cx="91440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343400"/>
            <a:ext cx="1371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ptos"/>
              </a:rPr>
              <a:t>12–18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343400"/>
            <a:ext cx="2743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SI / MSSP / industry partners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343400"/>
            <a:ext cx="2926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Multi-tenant SenseL + Trust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43400"/>
            <a:ext cx="2880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4155"/>
                </a:solidFill>
                <a:latin typeface="Aptos"/>
              </a:rPr>
              <a:t>Channel scale and partner-led delivery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521208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521208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We land with urgent security needs, add AI Red Team validation, and scale through trusted partners.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07162D"/>
                </a:solidFill>
                <a:latin typeface="Aptos Display"/>
              </a:rPr>
              <a:t>Fundraising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64748B"/>
                </a:solidFill>
                <a:latin typeface="Aptos"/>
              </a:rPr>
              <a:t>Strategic Angel Bridge → Seed-ready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7162D"/>
                </a:solidFill>
                <a:latin typeface="Aptos"/>
              </a:rPr>
              <a:t>Raise </a:t>
            </a:r>
            <a:r>
              <a:rPr sz="1800" b="1">
                <a:solidFill>
                  <a:srgbClr val="28A745"/>
                </a:solidFill>
                <a:latin typeface="Aptos"/>
              </a:rPr>
              <a:t>NT$3M–5M</a:t>
            </a:r>
            <a:r>
              <a:rPr sz="1800" b="1">
                <a:solidFill>
                  <a:srgbClr val="07162D"/>
                </a:solidFill>
                <a:latin typeface="Aptos"/>
              </a:rPr>
              <a:t> as a Strategic Angel Bridge, then </a:t>
            </a:r>
            <a:r>
              <a:rPr sz="1800" b="1">
                <a:solidFill>
                  <a:srgbClr val="28A745"/>
                </a:solidFill>
                <a:latin typeface="Aptos"/>
              </a:rPr>
              <a:t>NT$20M–30M Seed</a:t>
            </a:r>
            <a:r>
              <a:rPr sz="1800" b="1">
                <a:solidFill>
                  <a:srgbClr val="07162D"/>
                </a:solidFill>
                <a:latin typeface="Aptos"/>
              </a:rPr>
              <a:t> after commercial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286000"/>
            <a:ext cx="420624" cy="420624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8A745"/>
                </a:solidFill>
                <a:latin typeface="Aptos"/>
              </a:rPr>
              <a:t>Bridge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16352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NT$3M–5M. Complete MVP, convert first commercial pilots, produce evidence assets, prepare seed data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10312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2286000"/>
            <a:ext cx="42062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28600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Use of Funds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816352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Productization · MSSP onboarding · WAF/XDR/OT connectors · AI validation engine · OT Trust Layer · GTM.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10312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5" y="228600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5" y="228600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ptos"/>
              </a:rPr>
              <a:t>18-month Milestones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816352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4155"/>
                </a:solidFill>
                <a:latin typeface="Aptos"/>
              </a:rPr>
              <a:t>10–20 paying customers/pilots · multi-tenant platform · WAF MSSP · XDR/AI SOC reports · OT validation + trust demo.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983480"/>
            <a:ext cx="10287000" cy="566928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983480"/>
            <a:ext cx="9738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Goal: turn field PoCs into repeatable product modules, recurring revenue and Seed-ready traction.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64748B"/>
                </a:solidFill>
                <a:latin typeface="Aptos"/>
              </a:rPr>
              <a:t>Avocado.ai  |  SenseL Investor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sel-edg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67" y="1371600"/>
            <a:ext cx="4023360" cy="2679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977639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Detect → Validate → Prove → 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C7D7E7"/>
                </a:solidFill>
                <a:latin typeface="Aptos"/>
              </a:rPr>
              <a:t>Now extended with an OT Trust Layer:  Identity (PUF) · Channel (PQC) · Access (ZTNA) · Behavior (SenseL)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7DBA3B"/>
                </a:solidFill>
                <a:latin typeface="Aptos"/>
              </a:rPr>
              <a:t>Avocado.ai  ·  SenseL EdgeX  ·  Strategic Angel / Seed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