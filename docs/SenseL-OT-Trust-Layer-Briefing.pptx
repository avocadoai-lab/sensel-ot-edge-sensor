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A24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nsel-edge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207" y="1051560"/>
            <a:ext cx="5669280" cy="37758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526280"/>
            <a:ext cx="103628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OT Security — Trust Layer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38928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9CA8B8"/>
                </a:solidFill>
                <a:latin typeface="Arial"/>
              </a:rPr>
              <a:t>Partner Briefing for  </a:t>
            </a:r>
            <a:r>
              <a:rPr sz="1600" b="1">
                <a:solidFill>
                  <a:srgbClr val="9BD534"/>
                </a:solidFill>
                <a:latin typeface="Arial"/>
              </a:rPr>
              <a:t>ZTNA · PUF · PQC</a:t>
            </a:r>
            <a:r>
              <a:rPr sz="1600" b="0">
                <a:solidFill>
                  <a:srgbClr val="9CA8B8"/>
                </a:solidFill>
                <a:latin typeface="Arial"/>
              </a:rPr>
              <a:t> 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89320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CA8B8"/>
                </a:solidFill>
                <a:latin typeface="Arial"/>
              </a:rPr>
              <a:t>Draft v0.1   · 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841248"/>
          </a:xfrm>
          <a:prstGeom prst="rect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BD534"/>
                </a:solidFill>
                <a:latin typeface="Arial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Four Trust Questions, Four Partners</a:t>
            </a:r>
          </a:p>
        </p:txBody>
      </p:sp>
      <p:pic>
        <p:nvPicPr>
          <p:cNvPr id="6" name="Picture 5" descr="sensel-edge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274320"/>
            <a:ext cx="1874519" cy="124845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7240" y="1481328"/>
            <a:ext cx="10607040" cy="16459"/>
          </a:xfrm>
          <a:prstGeom prst="rect">
            <a:avLst/>
          </a:prstGeom>
          <a:solidFill>
            <a:srgbClr val="2A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CA8B8"/>
                </a:solidFill>
                <a:latin typeface="Arial"/>
              </a:rPr>
              <a:t>SenseL runs a mature </a:t>
            </a:r>
            <a:r>
              <a:rPr sz="1400" b="1">
                <a:solidFill>
                  <a:srgbClr val="9BD534"/>
                </a:solidFill>
                <a:latin typeface="Arial"/>
              </a:rPr>
              <a:t>behavioral trust layer</a:t>
            </a:r>
            <a:r>
              <a:rPr sz="1400" b="0">
                <a:solidFill>
                  <a:srgbClr val="9CA8B8"/>
                </a:solidFill>
                <a:latin typeface="Arial"/>
              </a:rPr>
              <a:t> today. To reach a complete Zero-Trust posture for OT, three partners migrate their capabilities into one unified Trust Layer.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468880"/>
            <a:ext cx="2194560" cy="457200"/>
          </a:xfrm>
          <a:prstGeom prst="rect">
            <a:avLst/>
          </a:prstGeom>
          <a:solidFill>
            <a:srgbClr val="A24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Partner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2468880"/>
            <a:ext cx="4023360" cy="457200"/>
          </a:xfrm>
          <a:prstGeom prst="rect">
            <a:avLst/>
          </a:prstGeom>
          <a:solidFill>
            <a:srgbClr val="A24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468880"/>
            <a:ext cx="4389120" cy="457200"/>
          </a:xfrm>
          <a:prstGeom prst="rect">
            <a:avLst/>
          </a:prstGeom>
          <a:solidFill>
            <a:srgbClr val="A24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Answers the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26080"/>
            <a:ext cx="2194560" cy="566928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200" b="1">
                <a:solidFill>
                  <a:srgbClr val="A24BD0"/>
                </a:solidFill>
                <a:latin typeface="Arial"/>
              </a:rPr>
              <a:t>PUF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1800" y="2926080"/>
            <a:ext cx="4023360" cy="566928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Hardware root of identity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2926080"/>
            <a:ext cx="4389120" cy="566928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Who is this device — really?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493008"/>
            <a:ext cx="2194560" cy="566928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200" b="1">
                <a:solidFill>
                  <a:srgbClr val="A24BD0"/>
                </a:solidFill>
                <a:latin typeface="Arial"/>
              </a:rPr>
              <a:t>PQC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3493008"/>
            <a:ext cx="4023360" cy="566928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Quantum-resistant channels &amp; signing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3493008"/>
            <a:ext cx="4389120" cy="566928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Can we trust how it was transmitted?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2194560" cy="566928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200" b="1">
                <a:solidFill>
                  <a:srgbClr val="A24BD0"/>
                </a:solidFill>
                <a:latin typeface="Arial"/>
              </a:rPr>
              <a:t>ZTNA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71800" y="4059936"/>
            <a:ext cx="4023360" cy="566928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Access decisions &amp; enforcement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95160" y="4059936"/>
            <a:ext cx="4389120" cy="566928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What is this entity allowed to do?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626864"/>
            <a:ext cx="2194560" cy="566928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200" b="1">
                <a:solidFill>
                  <a:srgbClr val="9BD534"/>
                </a:solidFill>
                <a:latin typeface="Arial"/>
              </a:rPr>
              <a:t>SenseL (today)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71800" y="4626864"/>
            <a:ext cx="4023360" cy="566928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Behavioral trust scoring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95160" y="4626864"/>
            <a:ext cx="4389120" cy="566928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Is it behaving correctly?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532120"/>
            <a:ext cx="10607040" cy="566928"/>
          </a:xfrm>
          <a:prstGeom prst="roundRect">
            <a:avLst/>
          </a:prstGeom>
          <a:solidFill>
            <a:srgbClr val="16202E"/>
          </a:solidFill>
          <a:ln w="19050">
            <a:solidFill>
              <a:srgbClr val="9BD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ask:  combine these four signals into one Unified Trust Score that drives real-time access and isolation decisions.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8B8"/>
                </a:solidFill>
                <a:latin typeface="Arial"/>
              </a:rPr>
              <a:t>SenseL EdgeX  ·  by AvocadoAI  ·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37376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CA8B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841248"/>
          </a:xfrm>
          <a:prstGeom prst="rect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BD534"/>
                </a:solidFill>
                <a:latin typeface="Arial"/>
              </a:rPr>
              <a:t>WHO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Three Building Blocks</a:t>
            </a:r>
          </a:p>
        </p:txBody>
      </p:sp>
      <p:pic>
        <p:nvPicPr>
          <p:cNvPr id="6" name="Picture 5" descr="sensel-edge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274320"/>
            <a:ext cx="1874519" cy="124845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7240" y="1481328"/>
            <a:ext cx="10607040" cy="16459"/>
          </a:xfrm>
          <a:prstGeom prst="rect">
            <a:avLst/>
          </a:prstGeom>
          <a:solidFill>
            <a:srgbClr val="2A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28016" cy="1234440"/>
          </a:xfrm>
          <a:prstGeom prst="rect">
            <a:avLst/>
          </a:prstGeom>
          <a:solidFill>
            <a:srgbClr val="A24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783080"/>
            <a:ext cx="10424160" cy="1234440"/>
          </a:xfrm>
          <a:prstGeom prst="roundRect">
            <a:avLst/>
          </a:prstGeom>
          <a:solidFill>
            <a:srgbClr val="16202E"/>
          </a:solidFill>
          <a:ln w="9525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929384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A24BD0"/>
                </a:solidFill>
                <a:latin typeface="Arial"/>
              </a:rPr>
              <a:t>CLOUD CONTROL PLANE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386584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CA8B8"/>
                </a:solidFill>
                <a:latin typeface="Arial"/>
              </a:rPr>
              <a:t>CTI hub · Policy production · Southbound rule distribution · Multi-agent workforce · Customer portal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200400"/>
            <a:ext cx="128016" cy="1234440"/>
          </a:xfrm>
          <a:prstGeom prst="rect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3200400"/>
            <a:ext cx="10424160" cy="1234440"/>
          </a:xfrm>
          <a:prstGeom prst="roundRect">
            <a:avLst/>
          </a:prstGeom>
          <a:solidFill>
            <a:srgbClr val="16202E"/>
          </a:solidFill>
          <a:ln w="9525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346704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9BD534"/>
                </a:solidFill>
                <a:latin typeface="Arial"/>
              </a:rPr>
              <a:t>INFERENCE PLANE  (Layer A / B / 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803904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CA8B8"/>
                </a:solidFill>
                <a:latin typeface="Arial"/>
              </a:rPr>
              <a:t>Normalization · ET-BERT inference · Episode aggregation · &gt;&gt; TRUST ENGINE &lt;&lt; · Agentic investigation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617720"/>
            <a:ext cx="128016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4617720"/>
            <a:ext cx="10424160" cy="1234440"/>
          </a:xfrm>
          <a:prstGeom prst="roundRect">
            <a:avLst/>
          </a:prstGeom>
          <a:solidFill>
            <a:srgbClr val="16202E"/>
          </a:solidFill>
          <a:ln w="9525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764024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EDGE SENSOR  (industrial gateway / Raspberry Pi)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21224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CA8B8"/>
                </a:solidFill>
                <a:latin typeface="Arial"/>
              </a:rPr>
              <a:t>Passive traffic detection + active telemetry · Local alerting · Evidence capture · Policy sync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8B8"/>
                </a:solidFill>
                <a:latin typeface="Arial"/>
              </a:rPr>
              <a:t>SenseL EdgeX  ·  by AvocadoAI  ·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37376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CA8B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841248"/>
          </a:xfrm>
          <a:prstGeom prst="rect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BD534"/>
                </a:solidFill>
                <a:latin typeface="Arial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End-to-End Architecture (Purdue-Aligned)</a:t>
            </a:r>
          </a:p>
        </p:txBody>
      </p:sp>
      <p:pic>
        <p:nvPicPr>
          <p:cNvPr id="6" name="Picture 5" descr="sensel-edge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274320"/>
            <a:ext cx="1874519" cy="124845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7240" y="1481328"/>
            <a:ext cx="10607040" cy="16459"/>
          </a:xfrm>
          <a:prstGeom prst="rect">
            <a:avLst/>
          </a:prstGeom>
          <a:solidFill>
            <a:srgbClr val="2A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63040" y="1691640"/>
            <a:ext cx="9235440" cy="841248"/>
          </a:xfrm>
          <a:prstGeom prst="roundRect">
            <a:avLst/>
          </a:prstGeom>
          <a:solidFill>
            <a:srgbClr val="16202E"/>
          </a:solidFill>
          <a:ln w="15875">
            <a:solidFill>
              <a:srgbClr val="9C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1783080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CA8B8"/>
                </a:solidFill>
                <a:latin typeface="Arial"/>
              </a:rPr>
              <a:t>FIELD ZONE  (Purdue L1/L2)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112264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8B8"/>
                </a:solidFill>
                <a:latin typeface="Arial"/>
              </a:rPr>
              <a:t>PLC · RTU · IED · HMI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89320" y="2542032"/>
            <a:ext cx="201168" cy="256032"/>
          </a:xfrm>
          <a:prstGeom prst="downArrow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3040" y="2807208"/>
            <a:ext cx="9235440" cy="841248"/>
          </a:xfrm>
          <a:prstGeom prst="roundRect">
            <a:avLst/>
          </a:prstGeom>
          <a:solidFill>
            <a:srgbClr val="16202E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2898648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EDGE SENSOR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27832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8B8"/>
                </a:solidFill>
                <a:latin typeface="Arial"/>
              </a:rPr>
              <a:t>Passive detection (SPAN/TAP)  +  Active telemetry (EdgeX)  →  Edge Agent (register · health · policy)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89320" y="3657600"/>
            <a:ext cx="201168" cy="256032"/>
          </a:xfrm>
          <a:prstGeom prst="downArrow">
            <a:avLst/>
          </a:prstGeom>
          <a:solidFill>
            <a:srgbClr val="A24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63040" y="3922776"/>
            <a:ext cx="9235440" cy="841248"/>
          </a:xfrm>
          <a:prstGeom prst="roundRect">
            <a:avLst/>
          </a:prstGeom>
          <a:solidFill>
            <a:srgbClr val="16202E"/>
          </a:solidFill>
          <a:ln w="15875">
            <a:solidFill>
              <a:srgbClr val="9BD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4014215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BD534"/>
                </a:solidFill>
                <a:latin typeface="Arial"/>
              </a:rPr>
              <a:t>INFERENCE PLANE  (L3)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343400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8B8"/>
                </a:solidFill>
                <a:latin typeface="Arial"/>
              </a:rPr>
              <a:t>Layer A Normalization  →  Layer B Inference + Trust Engine  →  Layer C Agentic Investigation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89320" y="4773168"/>
            <a:ext cx="201168" cy="256032"/>
          </a:xfrm>
          <a:prstGeom prst="downArrow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463040" y="5038344"/>
            <a:ext cx="9235440" cy="841248"/>
          </a:xfrm>
          <a:prstGeom prst="roundRect">
            <a:avLst/>
          </a:prstGeom>
          <a:solidFill>
            <a:srgbClr val="16202E"/>
          </a:solidFill>
          <a:ln w="15875">
            <a:solidFill>
              <a:srgbClr val="A24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91640" y="5129783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A24BD0"/>
                </a:solidFill>
                <a:latin typeface="Arial"/>
              </a:rPr>
              <a:t>CLOUD CONTROL PLANE  (L4/L5)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5458968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8B8"/>
                </a:solidFill>
                <a:latin typeface="Arial"/>
              </a:rPr>
              <a:t>CTI Hub  →  Policy Engine  →  Southbound Distribution (signed policy + IoC)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BD534"/>
                </a:solidFill>
                <a:latin typeface="Arial"/>
              </a:rPr>
              <a:t>Design principles:  passive-first (no process disruption) · explainable trust · clean north/south separation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8B8"/>
                </a:solidFill>
                <a:latin typeface="Arial"/>
              </a:rPr>
              <a:t>SenseL EdgeX  ·  by AvocadoAI  ·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37376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CA8B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841248"/>
          </a:xfrm>
          <a:prstGeom prst="rect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BD534"/>
                </a:solidFill>
                <a:latin typeface="Arial"/>
              </a:rPr>
              <a:t>CAPABILITY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Device Management</a:t>
            </a:r>
          </a:p>
        </p:txBody>
      </p:sp>
      <p:pic>
        <p:nvPicPr>
          <p:cNvPr id="6" name="Picture 5" descr="sensel-edge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274320"/>
            <a:ext cx="1874519" cy="124845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7240" y="1481328"/>
            <a:ext cx="10607040" cy="16459"/>
          </a:xfrm>
          <a:prstGeom prst="rect">
            <a:avLst/>
          </a:prstGeom>
          <a:solidFill>
            <a:srgbClr val="2A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2651760" cy="438912"/>
          </a:xfrm>
          <a:prstGeom prst="rect">
            <a:avLst/>
          </a:prstGeom>
          <a:solidFill>
            <a:srgbClr val="A24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Track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691640"/>
            <a:ext cx="5669280" cy="438912"/>
          </a:xfrm>
          <a:prstGeom prst="rect">
            <a:avLst/>
          </a:prstGeom>
          <a:solidFill>
            <a:srgbClr val="A24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98280" y="1691640"/>
            <a:ext cx="2286000" cy="438912"/>
          </a:xfrm>
          <a:prstGeom prst="rect">
            <a:avLst/>
          </a:prstGeom>
          <a:solidFill>
            <a:srgbClr val="A24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Process 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130552"/>
            <a:ext cx="2651760" cy="512064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Sensor registration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130552"/>
            <a:ext cx="5669280" cy="512064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Edge agent registers to cloud, bound to a tenant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8280" y="2130552"/>
            <a:ext cx="2286000" cy="512064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642616"/>
            <a:ext cx="2651760" cy="512064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Active devices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642616"/>
            <a:ext cx="5669280" cy="512064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Guided wizard: Modbus / MQTT / OPC-UA / S7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2642616"/>
            <a:ext cx="2286000" cy="512064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200" b="0">
                <a:solidFill>
                  <a:srgbClr val="9BD534"/>
                </a:solidFill>
                <a:latin typeface="Arial"/>
              </a:rPr>
              <a:t>Low (read-only)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154680"/>
            <a:ext cx="2651760" cy="512064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Passive discovery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3154680"/>
            <a:ext cx="5669280" cy="512064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Mirror traffic reveals MAC/IP, mapped to devices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3154680"/>
            <a:ext cx="2286000" cy="512064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200" b="0">
                <a:solidFill>
                  <a:srgbClr val="9BD534"/>
                </a:solidFill>
                <a:latin typeface="Arial"/>
              </a:rPr>
              <a:t>Zero (passive)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033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CA8B8"/>
                </a:solidFill>
                <a:latin typeface="Arial"/>
              </a:rPr>
              <a:t>Plus optional read-only active probing (never writes to a device) and behavioral baseline learning.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120640"/>
            <a:ext cx="10607040" cy="868680"/>
          </a:xfrm>
          <a:prstGeom prst="roundRect">
            <a:avLst/>
          </a:prstGeom>
          <a:solidFill>
            <a:srgbClr val="16202E"/>
          </a:solidFill>
          <a:ln w="19050">
            <a:solidFill>
              <a:srgbClr val="A24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>
                <a:solidFill>
                  <a:srgbClr val="A24BD0"/>
                </a:solidFill>
                <a:latin typeface="Arial"/>
              </a:rPr>
              <a:t>GAP → PUF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Device identity relies today on a copyable API key. There is no hardware-bound, unclonable identity.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8B8"/>
                </a:solidFill>
                <a:latin typeface="Arial"/>
              </a:rPr>
              <a:t>SenseL EdgeX  ·  by AvocadoAI  ·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37376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CA8B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841248"/>
          </a:xfrm>
          <a:prstGeom prst="rect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BD534"/>
                </a:solidFill>
                <a:latin typeface="Arial"/>
              </a:rPr>
              <a:t>CAPABILITY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Device-Side Defense</a:t>
            </a:r>
          </a:p>
        </p:txBody>
      </p:sp>
      <p:pic>
        <p:nvPicPr>
          <p:cNvPr id="6" name="Picture 5" descr="sensel-edge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274320"/>
            <a:ext cx="1874519" cy="124845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7240" y="1481328"/>
            <a:ext cx="10607040" cy="16459"/>
          </a:xfrm>
          <a:prstGeom prst="rect">
            <a:avLst/>
          </a:prstGeom>
          <a:solidFill>
            <a:srgbClr val="2A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3108960" cy="420624"/>
          </a:xfrm>
          <a:prstGeom prst="rect">
            <a:avLst/>
          </a:prstGeom>
          <a:solidFill>
            <a:srgbClr val="A24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Capability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1691640"/>
            <a:ext cx="7498079" cy="420624"/>
          </a:xfrm>
          <a:prstGeom prst="rect">
            <a:avLst/>
          </a:prstGeom>
          <a:solidFill>
            <a:srgbClr val="A24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What it 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112264"/>
            <a:ext cx="3108960" cy="457200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Detection engine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6200" y="2112264"/>
            <a:ext cx="7498079" cy="457200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OT network-behavior rules, IEC 61850 (GOOSE/MMS), CTI IoC hits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9464"/>
            <a:ext cx="3108960" cy="457200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Threat-intel matching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2569464"/>
            <a:ext cx="7498079" cy="457200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Pulls/receives blacklists; hot-reloads local IoC cache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026664"/>
            <a:ext cx="3108960" cy="457200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Policy enforcement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3026664"/>
            <a:ext cx="7498079" cy="457200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Applies cloud-pushed enabled rules + baselines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483864"/>
            <a:ext cx="3108960" cy="457200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Evidence capture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6200" y="3483864"/>
            <a:ext cx="7498079" cy="457200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In-memory ring buffer with evidence references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941064"/>
            <a:ext cx="3108960" cy="457200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Offline resilience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0" y="3941064"/>
            <a:ext cx="7498079" cy="457200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Local buffering + exponential-backoff reconnect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617720"/>
            <a:ext cx="10607040" cy="566928"/>
          </a:xfrm>
          <a:prstGeom prst="roundRect">
            <a:avLst/>
          </a:prstGeom>
          <a:solidFill>
            <a:srgbClr val="16202E"/>
          </a:solidFill>
          <a:ln w="19050">
            <a:solidFill>
              <a:srgbClr val="9BD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Today:  “Block / Quarantine” are recommended actions only — the edge does not block inline.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349240"/>
            <a:ext cx="10607040" cy="713232"/>
          </a:xfrm>
          <a:prstGeom prst="roundRect">
            <a:avLst/>
          </a:prstGeom>
          <a:solidFill>
            <a:srgbClr val="16202E"/>
          </a:solidFill>
          <a:ln w="19050">
            <a:solidFill>
              <a:srgbClr val="A24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>
                <a:solidFill>
                  <a:srgbClr val="A24BD0"/>
                </a:solidFill>
                <a:latin typeface="Arial"/>
              </a:rPr>
              <a:t>GAP → ZTNA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No “trust score → dynamic access control / micro-segmentation” enforcement.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8B8"/>
                </a:solidFill>
                <a:latin typeface="Arial"/>
              </a:rPr>
              <a:t>SenseL EdgeX  ·  by AvocadoAI  ·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37376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CA8B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841248"/>
          </a:xfrm>
          <a:prstGeom prst="rect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BD534"/>
                </a:solidFill>
                <a:latin typeface="Arial"/>
              </a:rPr>
              <a:t>CAPABILITY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Layer A / B / C Analytics  ·  The Trust Engine</a:t>
            </a:r>
          </a:p>
        </p:txBody>
      </p:sp>
      <p:pic>
        <p:nvPicPr>
          <p:cNvPr id="6" name="Picture 5" descr="sensel-edge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274320"/>
            <a:ext cx="1874519" cy="124845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7240" y="1481328"/>
            <a:ext cx="10607040" cy="16459"/>
          </a:xfrm>
          <a:prstGeom prst="rect">
            <a:avLst/>
          </a:prstGeom>
          <a:solidFill>
            <a:srgbClr val="2A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1874519" cy="777240"/>
          </a:xfrm>
          <a:prstGeom prst="roundRect">
            <a:avLst/>
          </a:prstGeom>
          <a:solidFill>
            <a:srgbClr val="16202E"/>
          </a:solidFill>
          <a:ln w="19050">
            <a:solidFill>
              <a:srgbClr val="9BD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9BD534"/>
                </a:solidFill>
                <a:latin typeface="Arial"/>
              </a:rPr>
              <a:t>Layer A</a:t>
            </a:r>
          </a:p>
          <a:p>
            <a:pPr algn="ctr"/>
            <a:r>
              <a:rPr sz="1000" b="0">
                <a:solidFill>
                  <a:srgbClr val="9CA8B8"/>
                </a:solidFill>
                <a:latin typeface="Arial"/>
              </a:rPr>
              <a:t>Normalize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70048" y="1993392"/>
            <a:ext cx="164592" cy="201168"/>
          </a:xfrm>
          <a:prstGeom prst="rightArrow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52928" y="1691640"/>
            <a:ext cx="1874519" cy="777240"/>
          </a:xfrm>
          <a:prstGeom prst="roundRect">
            <a:avLst/>
          </a:prstGeom>
          <a:solidFill>
            <a:srgbClr val="16202E"/>
          </a:solidFill>
          <a:ln w="19050">
            <a:solidFill>
              <a:srgbClr val="9BD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9BD534"/>
                </a:solidFill>
                <a:latin typeface="Arial"/>
              </a:rPr>
              <a:t>Layer B-1</a:t>
            </a:r>
          </a:p>
          <a:p>
            <a:pPr algn="ctr"/>
            <a:r>
              <a:rPr sz="1000" b="0">
                <a:solidFill>
                  <a:srgbClr val="9CA8B8"/>
                </a:solidFill>
                <a:latin typeface="Arial"/>
              </a:rPr>
              <a:t>ET-BERT Cascade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45736" y="1993392"/>
            <a:ext cx="164592" cy="201168"/>
          </a:xfrm>
          <a:prstGeom prst="rightArrow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28616" y="1691640"/>
            <a:ext cx="1874519" cy="777240"/>
          </a:xfrm>
          <a:prstGeom prst="roundRect">
            <a:avLst/>
          </a:prstGeom>
          <a:solidFill>
            <a:srgbClr val="16202E"/>
          </a:solidFill>
          <a:ln w="19050">
            <a:solidFill>
              <a:srgbClr val="9BD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9BD534"/>
                </a:solidFill>
                <a:latin typeface="Arial"/>
              </a:rPr>
              <a:t>Layer B-2</a:t>
            </a:r>
          </a:p>
          <a:p>
            <a:pPr algn="ctr"/>
            <a:r>
              <a:rPr sz="1000" b="0">
                <a:solidFill>
                  <a:srgbClr val="9CA8B8"/>
                </a:solidFill>
                <a:latin typeface="Arial"/>
              </a:rPr>
              <a:t>Episodes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821424" y="1993392"/>
            <a:ext cx="164592" cy="201168"/>
          </a:xfrm>
          <a:prstGeom prst="rightArrow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04304" y="1691640"/>
            <a:ext cx="1874519" cy="777240"/>
          </a:xfrm>
          <a:prstGeom prst="roundRect">
            <a:avLst/>
          </a:prstGeom>
          <a:solidFill>
            <a:srgbClr val="16202E"/>
          </a:solidFill>
          <a:ln w="19050">
            <a:solidFill>
              <a:srgbClr val="A24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A24BD0"/>
                </a:solidFill>
                <a:latin typeface="Arial"/>
              </a:rPr>
              <a:t>TRUST ENGINE</a:t>
            </a:r>
          </a:p>
          <a:p>
            <a:pPr algn="ctr"/>
            <a:r>
              <a:rPr sz="1000" b="0">
                <a:solidFill>
                  <a:srgbClr val="9CA8B8"/>
                </a:solidFill>
                <a:latin typeface="Arial"/>
              </a:rPr>
              <a:t>entity score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897112" y="1993392"/>
            <a:ext cx="164592" cy="201168"/>
          </a:xfrm>
          <a:prstGeom prst="rightArrow">
            <a:avLst/>
          </a:prstGeom>
          <a:solidFill>
            <a:srgbClr val="A24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79992" y="1691640"/>
            <a:ext cx="1874519" cy="777240"/>
          </a:xfrm>
          <a:prstGeom prst="roundRect">
            <a:avLst/>
          </a:prstGeom>
          <a:solidFill>
            <a:srgbClr val="16202E"/>
          </a:solidFill>
          <a:ln w="19050">
            <a:solidFill>
              <a:srgbClr val="9BD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9BD534"/>
                </a:solidFill>
                <a:latin typeface="Arial"/>
              </a:rPr>
              <a:t>Layer C</a:t>
            </a:r>
          </a:p>
          <a:p>
            <a:pPr algn="ctr"/>
            <a:r>
              <a:rPr sz="1000" b="0">
                <a:solidFill>
                  <a:srgbClr val="9CA8B8"/>
                </a:solidFill>
                <a:latin typeface="Arial"/>
              </a:rPr>
              <a:t>Investigation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788920"/>
            <a:ext cx="10607040" cy="3108960"/>
          </a:xfrm>
          <a:prstGeom prst="roundRect">
            <a:avLst/>
          </a:prstGeom>
          <a:solidFill>
            <a:srgbClr val="16202E"/>
          </a:solidFill>
          <a:ln w="9525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926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9BD534"/>
                </a:solidFill>
                <a:latin typeface="Arial"/>
              </a:rPr>
              <a:t>The Trust Engine — our existing software trust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4290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A24BD0"/>
                </a:solidFill>
                <a:latin typeface="Arial"/>
              </a:rPr>
              <a:t>• </a:t>
            </a:r>
            <a:r>
              <a:rPr sz="1300" b="1">
                <a:solidFill>
                  <a:srgbClr val="FFFFFF"/>
                </a:solidFill>
                <a:latin typeface="Arial"/>
              </a:rPr>
              <a:t>Formula:  </a:t>
            </a:r>
            <a:r>
              <a:rPr sz="1300" b="0">
                <a:solidFill>
                  <a:srgbClr val="9CA8B8"/>
                </a:solidFill>
                <a:latin typeface="Arial"/>
              </a:rPr>
              <a:t>T_new = clamp( T_old − Penalty(event) + Recovery(time) 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904487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A24BD0"/>
                </a:solidFill>
                <a:latin typeface="Arial"/>
              </a:rPr>
              <a:t>• </a:t>
            </a:r>
            <a:r>
              <a:rPr sz="1300" b="1">
                <a:solidFill>
                  <a:srgbClr val="FFFFFF"/>
                </a:solidFill>
                <a:latin typeface="Arial"/>
              </a:rPr>
              <a:t>Penalty:  </a:t>
            </a:r>
            <a:r>
              <a:rPr sz="1300" b="0">
                <a:solidFill>
                  <a:srgbClr val="9CA8B8"/>
                </a:solidFill>
                <a:latin typeface="Arial"/>
              </a:rPr>
              <a:t>weighs severity · recurrence · sequence anomaly · classifier confidence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379975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A24BD0"/>
                </a:solidFill>
                <a:latin typeface="Arial"/>
              </a:rPr>
              <a:t>• </a:t>
            </a:r>
            <a:r>
              <a:rPr sz="1300" b="1">
                <a:solidFill>
                  <a:srgbClr val="FFFFFF"/>
                </a:solidFill>
                <a:latin typeface="Arial"/>
              </a:rPr>
              <a:t>Recovery:  </a:t>
            </a:r>
            <a:r>
              <a:rPr sz="1300" b="0">
                <a:solidFill>
                  <a:srgbClr val="9CA8B8"/>
                </a:solidFill>
                <a:latin typeface="Arial"/>
              </a:rPr>
              <a:t>slow, only when no new malicious activity occurs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855463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A24BD0"/>
                </a:solidFill>
                <a:latin typeface="Arial"/>
              </a:rPr>
              <a:t>• </a:t>
            </a:r>
            <a:r>
              <a:rPr sz="1300" b="1">
                <a:solidFill>
                  <a:srgbClr val="FFFFFF"/>
                </a:solidFill>
                <a:latin typeface="Arial"/>
              </a:rPr>
              <a:t>Levels:  </a:t>
            </a:r>
            <a:r>
              <a:rPr sz="1300" b="0">
                <a:solidFill>
                  <a:srgbClr val="9CA8B8"/>
                </a:solidFill>
                <a:latin typeface="Arial"/>
              </a:rPr>
              <a:t>Healthy → Suspicious → Degraded → 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330951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A24BD0"/>
                </a:solidFill>
                <a:latin typeface="Arial"/>
              </a:rPr>
              <a:t>• </a:t>
            </a:r>
            <a:r>
              <a:rPr sz="1300" b="1">
                <a:solidFill>
                  <a:srgbClr val="FFFFFF"/>
                </a:solidFill>
                <a:latin typeface="Arial"/>
              </a:rPr>
              <a:t>Propagation:  </a:t>
            </a:r>
            <a:r>
              <a:rPr sz="1300" b="0">
                <a:solidFill>
                  <a:srgbClr val="9CA8B8"/>
                </a:solidFill>
                <a:latin typeface="Arial"/>
              </a:rPr>
              <a:t>degraded/critical entity spreads risk along a trust graph (identity → workstation → PLC), fully audited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8B8"/>
                </a:solidFill>
                <a:latin typeface="Arial"/>
              </a:rPr>
              <a:t>SenseL EdgeX  ·  by AvocadoAI  ·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37376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CA8B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841248"/>
          </a:xfrm>
          <a:prstGeom prst="rect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BD534"/>
                </a:solidFill>
                <a:latin typeface="Arial"/>
              </a:rPr>
              <a:t>CAPABILITY 4 &amp;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Cloud Service + Rule Distribution</a:t>
            </a:r>
          </a:p>
        </p:txBody>
      </p:sp>
      <p:pic>
        <p:nvPicPr>
          <p:cNvPr id="6" name="Picture 5" descr="sensel-edge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274320"/>
            <a:ext cx="1874519" cy="124845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7240" y="1481328"/>
            <a:ext cx="10607040" cy="16459"/>
          </a:xfrm>
          <a:prstGeom prst="rect">
            <a:avLst/>
          </a:prstGeom>
          <a:solidFill>
            <a:srgbClr val="2A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2103120" cy="640080"/>
          </a:xfrm>
          <a:prstGeom prst="roundRect">
            <a:avLst/>
          </a:prstGeom>
          <a:solidFill>
            <a:srgbClr val="16202E"/>
          </a:solidFill>
          <a:ln w="19050">
            <a:solidFill>
              <a:srgbClr val="9BD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9BD534"/>
                </a:solidFill>
                <a:latin typeface="Arial"/>
              </a:rPr>
              <a:t>CTI feeds</a:t>
            </a:r>
          </a:p>
          <a:p>
            <a:pPr algn="ctr"/>
            <a:r>
              <a:rPr sz="900" b="0">
                <a:solidFill>
                  <a:srgbClr val="9CA8B8"/>
                </a:solidFill>
                <a:latin typeface="Arial"/>
              </a:rPr>
              <a:t>OpenCTI / Avocado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26080" y="1975104"/>
            <a:ext cx="274320" cy="201168"/>
          </a:xfrm>
          <a:prstGeom prst="rightArrow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91840" y="1737360"/>
            <a:ext cx="2103120" cy="640080"/>
          </a:xfrm>
          <a:prstGeom prst="roundRect">
            <a:avLst/>
          </a:prstGeom>
          <a:solidFill>
            <a:srgbClr val="16202E"/>
          </a:solidFill>
          <a:ln w="19050">
            <a:solidFill>
              <a:srgbClr val="9BD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9BD534"/>
                </a:solidFill>
                <a:latin typeface="Arial"/>
              </a:rPr>
              <a:t>Scoring +</a:t>
            </a:r>
          </a:p>
          <a:p>
            <a:pPr algn="ctr"/>
            <a:r>
              <a:rPr sz="1100" b="0">
                <a:solidFill>
                  <a:srgbClr val="9CA8B8"/>
                </a:solidFill>
                <a:latin typeface="Arial"/>
              </a:rPr>
              <a:t>Policy Engine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40680" y="1975104"/>
            <a:ext cx="274320" cy="201168"/>
          </a:xfrm>
          <a:prstGeom prst="rightArrow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6440" y="1737360"/>
            <a:ext cx="2651760" cy="640080"/>
          </a:xfrm>
          <a:prstGeom prst="roundRect">
            <a:avLst/>
          </a:prstGeom>
          <a:solidFill>
            <a:srgbClr val="16202E"/>
          </a:solidFill>
          <a:ln w="19050">
            <a:solidFill>
              <a:srgbClr val="A24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A24BD0"/>
                </a:solidFill>
                <a:latin typeface="Arial"/>
              </a:rPr>
              <a:t>Signed Policy Artifact</a:t>
            </a:r>
          </a:p>
          <a:p>
            <a:pPr algn="ctr"/>
            <a:r>
              <a:rPr sz="900" b="0">
                <a:solidFill>
                  <a:srgbClr val="9CA8B8"/>
                </a:solidFill>
                <a:latin typeface="Arial"/>
              </a:rPr>
              <a:t>blacklist · STIX · IDS · TLS fp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03920" y="1975104"/>
            <a:ext cx="274320" cy="201168"/>
          </a:xfrm>
          <a:prstGeom prst="rightArrow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69680" y="1737360"/>
            <a:ext cx="2514600" cy="640080"/>
          </a:xfrm>
          <a:prstGeom prst="roundRect">
            <a:avLst/>
          </a:prstGeom>
          <a:solidFill>
            <a:srgbClr val="1620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Edge / NDR / FW</a:t>
            </a:r>
          </a:p>
          <a:p>
            <a:pPr algn="ctr"/>
            <a:r>
              <a:rPr sz="900" b="0">
                <a:solidFill>
                  <a:srgbClr val="9CA8B8"/>
                </a:solidFill>
                <a:latin typeface="Arial"/>
              </a:rPr>
              <a:t>HTTP · MQTT · SSE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69748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Two distribution pipelines: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108960"/>
            <a:ext cx="2468880" cy="420624"/>
          </a:xfrm>
          <a:prstGeom prst="rect">
            <a:avLst/>
          </a:prstGeom>
          <a:solidFill>
            <a:srgbClr val="A24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Pipeline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3108960"/>
            <a:ext cx="2743200" cy="420624"/>
          </a:xfrm>
          <a:prstGeom prst="rect">
            <a:avLst/>
          </a:prstGeom>
          <a:solidFill>
            <a:srgbClr val="A24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Direction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3108960"/>
            <a:ext cx="2194560" cy="420624"/>
          </a:xfrm>
          <a:prstGeom prst="rect">
            <a:avLst/>
          </a:prstGeom>
          <a:solidFill>
            <a:srgbClr val="A24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Channel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80" y="3108960"/>
            <a:ext cx="3200400" cy="420624"/>
          </a:xfrm>
          <a:prstGeom prst="rect">
            <a:avLst/>
          </a:prstGeom>
          <a:solidFill>
            <a:srgbClr val="A24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Content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529584"/>
            <a:ext cx="2468880" cy="548640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CTI / IoC blacklist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3529584"/>
            <a:ext cx="2743200" cy="548640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cloud → edge / NDR / FW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3529584"/>
            <a:ext cx="2194560" cy="548640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HTTP + MQTT + SSE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80" y="3529584"/>
            <a:ext cx="3200400" cy="548640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IP / domain / hash · IDS rules · TLS fingerprints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078224"/>
            <a:ext cx="2468880" cy="548640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OT detection policy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4078224"/>
            <a:ext cx="2743200" cy="548640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cloud → edge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4078224"/>
            <a:ext cx="2194560" cy="548640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MQTT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80" y="4078224"/>
            <a:ext cx="3200400" cy="548640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enabled rules + baselines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074920"/>
            <a:ext cx="10607040" cy="868680"/>
          </a:xfrm>
          <a:prstGeom prst="roundRect">
            <a:avLst/>
          </a:prstGeom>
          <a:solidFill>
            <a:srgbClr val="16202E"/>
          </a:solidFill>
          <a:ln w="19050">
            <a:solidFill>
              <a:srgbClr val="A24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>
                <a:solidFill>
                  <a:srgbClr val="A24BD0"/>
                </a:solidFill>
                <a:latin typeface="Arial"/>
              </a:rPr>
              <a:t>GAP → PQC + PUF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Arial"/>
              </a:rPr>
              <a:t>Distribution relies on a copyable API key + optional TLS. Artifacts are not end-to-end signed; channels are not quantum-resistant.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8B8"/>
                </a:solidFill>
                <a:latin typeface="Arial"/>
              </a:rPr>
              <a:t>SenseL EdgeX  ·  by AvocadoAI  ·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37376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CA8B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841248"/>
          </a:xfrm>
          <a:prstGeom prst="rect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BD534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The Trust Gap — Current State vs. Need</a:t>
            </a:r>
          </a:p>
        </p:txBody>
      </p:sp>
      <p:pic>
        <p:nvPicPr>
          <p:cNvPr id="6" name="Picture 5" descr="sensel-edge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274320"/>
            <a:ext cx="1874519" cy="124845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7240" y="1481328"/>
            <a:ext cx="10607040" cy="16459"/>
          </a:xfrm>
          <a:prstGeom prst="rect">
            <a:avLst/>
          </a:prstGeom>
          <a:solidFill>
            <a:srgbClr val="2A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27632"/>
            <a:ext cx="2286000" cy="402336"/>
          </a:xfrm>
          <a:prstGeom prst="rect">
            <a:avLst/>
          </a:prstGeom>
          <a:solidFill>
            <a:srgbClr val="A24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Dimension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627632"/>
            <a:ext cx="2926080" cy="402336"/>
          </a:xfrm>
          <a:prstGeom prst="rect">
            <a:avLst/>
          </a:prstGeom>
          <a:solidFill>
            <a:srgbClr val="A24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Today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627632"/>
            <a:ext cx="3657600" cy="402336"/>
          </a:xfrm>
          <a:prstGeom prst="rect">
            <a:avLst/>
          </a:prstGeom>
          <a:solidFill>
            <a:srgbClr val="A24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Gap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627632"/>
            <a:ext cx="1737360" cy="402336"/>
          </a:xfrm>
          <a:prstGeom prst="rect">
            <a:avLst/>
          </a:prstGeom>
          <a:solidFill>
            <a:srgbClr val="A24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Owner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029968"/>
            <a:ext cx="2286000" cy="457200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Device identity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2029968"/>
            <a:ext cx="2926080" cy="457200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Copyable API key + invite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2029968"/>
            <a:ext cx="3657600" cy="457200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No hardware-bound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46920" y="2029968"/>
            <a:ext cx="1737360" cy="457200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1">
                <a:solidFill>
                  <a:srgbClr val="A24BD0"/>
                </a:solidFill>
                <a:latin typeface="Arial"/>
              </a:rPr>
              <a:t>PUF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487168"/>
            <a:ext cx="2286000" cy="457200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Behavioral trust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40" y="2487168"/>
            <a:ext cx="2926080" cy="457200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Mature scoring engine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487168"/>
            <a:ext cx="3657600" cy="457200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Behavior-only; no identity/context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2487168"/>
            <a:ext cx="1737360" cy="457200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1">
                <a:solidFill>
                  <a:srgbClr val="9BD534"/>
                </a:solidFill>
                <a:latin typeface="Arial"/>
              </a:rPr>
              <a:t>fuse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2944368"/>
            <a:ext cx="2286000" cy="457200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Channels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63240" y="2944368"/>
            <a:ext cx="2926080" cy="457200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TLS (ECDHE/RSA)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2944368"/>
            <a:ext cx="3657600" cy="457200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Not quantum-safe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944368"/>
            <a:ext cx="1737360" cy="457200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1">
                <a:solidFill>
                  <a:srgbClr val="A24BD0"/>
                </a:solidFill>
                <a:latin typeface="Arial"/>
              </a:rPr>
              <a:t>PQC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401568"/>
            <a:ext cx="2286000" cy="457200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Policy integrity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40" y="3401568"/>
            <a:ext cx="2926080" cy="457200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API key, no signing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3401568"/>
            <a:ext cx="3657600" cy="457200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Tamper / replay possible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6920" y="3401568"/>
            <a:ext cx="1737360" cy="457200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1">
                <a:solidFill>
                  <a:srgbClr val="A24BD0"/>
                </a:solidFill>
                <a:latin typeface="Arial"/>
              </a:rPr>
              <a:t>PQC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3858768"/>
            <a:ext cx="2286000" cy="457200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Access control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63240" y="3858768"/>
            <a:ext cx="2926080" cy="457200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Portal RBAC only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3858768"/>
            <a:ext cx="3657600" cy="457200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No device-level zero trust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3858768"/>
            <a:ext cx="1737360" cy="457200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1">
                <a:solidFill>
                  <a:srgbClr val="A24BD0"/>
                </a:solidFill>
                <a:latin typeface="Arial"/>
              </a:rPr>
              <a:t>ZTNA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15968"/>
            <a:ext cx="2286000" cy="457200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Enforcement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63240" y="4315968"/>
            <a:ext cx="2926080" cy="457200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Recommendations only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4315968"/>
            <a:ext cx="3657600" cy="457200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No isolation on trust drop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315968"/>
            <a:ext cx="1737360" cy="457200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1">
                <a:solidFill>
                  <a:srgbClr val="A24BD0"/>
                </a:solidFill>
                <a:latin typeface="Arial"/>
              </a:rPr>
              <a:t>ZTNA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4773168"/>
            <a:ext cx="2286000" cy="457200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Certificates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40" y="4773168"/>
            <a:ext cx="2926080" cy="457200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Static, manual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4773168"/>
            <a:ext cx="3657600" cy="457200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No HW root / rotation / PQC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46920" y="4773168"/>
            <a:ext cx="1737360" cy="457200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1">
                <a:solidFill>
                  <a:srgbClr val="A24BD0"/>
                </a:solidFill>
                <a:latin typeface="Arial"/>
              </a:rPr>
              <a:t>PUF+PQC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5532120"/>
            <a:ext cx="10607040" cy="566928"/>
          </a:xfrm>
          <a:prstGeom prst="roundRect">
            <a:avLst/>
          </a:prstGeom>
          <a:solidFill>
            <a:srgbClr val="16202E"/>
          </a:solidFill>
          <a:ln w="19050">
            <a:solidFill>
              <a:srgbClr val="9BD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>
                <a:solidFill>
                  <a:srgbClr val="9BD534"/>
                </a:solidFill>
                <a:latin typeface="Arial"/>
              </a:rPr>
              <a:t>We have behavioral trust. We need identity, channel, and access trust.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8B8"/>
                </a:solidFill>
                <a:latin typeface="Arial"/>
              </a:rPr>
              <a:t>SenseL EdgeX  ·  by AvocadoAI  ·  Confidential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0" y="6437376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CA8B8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841248"/>
          </a:xfrm>
          <a:prstGeom prst="rect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BD534"/>
                </a:solidFill>
                <a:latin typeface="Arial"/>
              </a:rPr>
              <a:t>THE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The Unified Trust Layer</a:t>
            </a:r>
          </a:p>
        </p:txBody>
      </p:sp>
      <p:pic>
        <p:nvPicPr>
          <p:cNvPr id="6" name="Picture 5" descr="sensel-edge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274320"/>
            <a:ext cx="1874519" cy="124845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7240" y="1481328"/>
            <a:ext cx="10607040" cy="16459"/>
          </a:xfrm>
          <a:prstGeom prst="rect">
            <a:avLst/>
          </a:prstGeom>
          <a:solidFill>
            <a:srgbClr val="2A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80160" y="1737360"/>
            <a:ext cx="6035040" cy="841248"/>
          </a:xfrm>
          <a:prstGeom prst="roundRect">
            <a:avLst/>
          </a:prstGeom>
          <a:solidFill>
            <a:srgbClr val="16202E"/>
          </a:solidFill>
          <a:ln w="15875">
            <a:solidFill>
              <a:srgbClr val="A24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1847088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A24BD0"/>
                </a:solidFill>
                <a:latin typeface="Arial"/>
              </a:rPr>
              <a:t>PUF — Identity Root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194560"/>
            <a:ext cx="5577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CA8B8"/>
                </a:solidFill>
                <a:latin typeface="Arial"/>
              </a:rPr>
              <a:t>unclonable device identity · key wrapping · attestation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206240" y="2587752"/>
            <a:ext cx="201168" cy="201168"/>
          </a:xfrm>
          <a:prstGeom prst="downArrow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80160" y="2798063"/>
            <a:ext cx="6035040" cy="841248"/>
          </a:xfrm>
          <a:prstGeom prst="roundRect">
            <a:avLst/>
          </a:prstGeom>
          <a:solidFill>
            <a:srgbClr val="16202E"/>
          </a:solidFill>
          <a:ln w="15875">
            <a:solidFill>
              <a:srgbClr val="A24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907791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A24BD0"/>
                </a:solidFill>
                <a:latin typeface="Arial"/>
              </a:rPr>
              <a:t>PQC — Crypto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255263"/>
            <a:ext cx="5577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CA8B8"/>
                </a:solidFill>
                <a:latin typeface="Arial"/>
              </a:rPr>
              <a:t>quantum-safe KEM &amp; signatures · mTLS · artifact signing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206240" y="3648456"/>
            <a:ext cx="201168" cy="201168"/>
          </a:xfrm>
          <a:prstGeom prst="downArrow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280160" y="3858768"/>
            <a:ext cx="6035040" cy="841248"/>
          </a:xfrm>
          <a:prstGeom prst="roundRect">
            <a:avLst/>
          </a:prstGeom>
          <a:solidFill>
            <a:srgbClr val="16202E"/>
          </a:solidFill>
          <a:ln w="15875">
            <a:solidFill>
              <a:srgbClr val="A24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3968496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A24BD0"/>
                </a:solidFill>
                <a:latin typeface="Arial"/>
              </a:rPr>
              <a:t>ZTNA —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315968"/>
            <a:ext cx="5577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CA8B8"/>
                </a:solidFill>
                <a:latin typeface="Arial"/>
              </a:rPr>
              <a:t>device posture · dynamic authz · micro-segmentation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1737360"/>
            <a:ext cx="3657600" cy="987552"/>
          </a:xfrm>
          <a:prstGeom prst="roundRect">
            <a:avLst/>
          </a:prstGeom>
          <a:solidFill>
            <a:srgbClr val="16202E"/>
          </a:solidFill>
          <a:ln w="15875">
            <a:solidFill>
              <a:srgbClr val="9BD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1874519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BD534"/>
                </a:solidFill>
                <a:latin typeface="Arial"/>
              </a:rPr>
              <a:t>Behavioral Trust (today)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24028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CA8B8"/>
                </a:solidFill>
                <a:latin typeface="Arial"/>
              </a:rPr>
              <a:t>entity state · alerts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80160" y="5120640"/>
            <a:ext cx="10241280" cy="914400"/>
          </a:xfrm>
          <a:prstGeom prst="roundRect">
            <a:avLst/>
          </a:prstGeom>
          <a:solidFill>
            <a:srgbClr val="A24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5230368"/>
            <a:ext cx="9875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Identity (PUF) → Channel (PQC) → Access (ZTNA) → Behavior (existing)  =  </a:t>
            </a:r>
            <a:r>
              <a:rPr sz="1500" b="1">
                <a:solidFill>
                  <a:srgbClr val="0E1621"/>
                </a:solidFill>
                <a:latin typeface="Arial"/>
              </a:rPr>
              <a:t>ONE Unified Trust Score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309360" y="4572000"/>
            <a:ext cx="201168" cy="457200"/>
          </a:xfrm>
          <a:prstGeom prst="downArrow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8B8"/>
                </a:solidFill>
                <a:latin typeface="Arial"/>
              </a:rPr>
              <a:t>SenseL EdgeX  ·  by AvocadoAI  ·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37376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CA8B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841248"/>
          </a:xfrm>
          <a:prstGeom prst="rect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BD534"/>
                </a:solidFill>
                <a:latin typeface="Arial"/>
              </a:rPr>
              <a:t>HOW WE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Partner Integration Points</a:t>
            </a:r>
          </a:p>
        </p:txBody>
      </p:sp>
      <p:pic>
        <p:nvPicPr>
          <p:cNvPr id="6" name="Picture 5" descr="sensel-edge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274320"/>
            <a:ext cx="1874519" cy="124845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7240" y="1481328"/>
            <a:ext cx="10607040" cy="16459"/>
          </a:xfrm>
          <a:prstGeom prst="rect">
            <a:avLst/>
          </a:prstGeom>
          <a:solidFill>
            <a:srgbClr val="2A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27632"/>
            <a:ext cx="548640" cy="384048"/>
          </a:xfrm>
          <a:prstGeom prst="rect">
            <a:avLst/>
          </a:prstGeom>
          <a:solidFill>
            <a:srgbClr val="A24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1627632"/>
            <a:ext cx="2743200" cy="384048"/>
          </a:xfrm>
          <a:prstGeom prst="rect">
            <a:avLst/>
          </a:prstGeom>
          <a:solidFill>
            <a:srgbClr val="A24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Integration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9080" y="1627632"/>
            <a:ext cx="5212080" cy="384048"/>
          </a:xfrm>
          <a:prstGeom prst="rect">
            <a:avLst/>
          </a:prstGeom>
          <a:solidFill>
            <a:srgbClr val="A24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Extension needed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81160" y="1627632"/>
            <a:ext cx="2103120" cy="384048"/>
          </a:xfrm>
          <a:prstGeom prst="rect">
            <a:avLst/>
          </a:prstGeom>
          <a:solidFill>
            <a:srgbClr val="A24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Partner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011680"/>
            <a:ext cx="548640" cy="420624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25880" y="2011680"/>
            <a:ext cx="2743200" cy="420624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Device registration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080" y="2011680"/>
            <a:ext cx="5212080" cy="420624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Add PUF attestation to enrollment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1160" y="2011680"/>
            <a:ext cx="2103120" cy="420624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1">
                <a:solidFill>
                  <a:srgbClr val="A24BD0"/>
                </a:solidFill>
                <a:latin typeface="Arial"/>
              </a:rPr>
              <a:t>PUF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432304"/>
            <a:ext cx="548640" cy="420624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5880" y="2432304"/>
            <a:ext cx="2743200" cy="420624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Health reporting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69080" y="2432304"/>
            <a:ext cx="5212080" cy="420624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Carry attestation nonce / proof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1160" y="2432304"/>
            <a:ext cx="2103120" cy="420624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1">
                <a:solidFill>
                  <a:srgbClr val="A24BD0"/>
                </a:solidFill>
                <a:latin typeface="Arial"/>
              </a:rPr>
              <a:t>PUF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2852928"/>
            <a:ext cx="548640" cy="420624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5880" y="2852928"/>
            <a:ext cx="2743200" cy="420624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Policy artifacts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9080" y="2852928"/>
            <a:ext cx="5212080" cy="420624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Add signature + algo + key id; verify at edge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81160" y="2852928"/>
            <a:ext cx="2103120" cy="420624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1">
                <a:solidFill>
                  <a:srgbClr val="A24BD0"/>
                </a:solidFill>
                <a:latin typeface="Arial"/>
              </a:rPr>
              <a:t>PQC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273552"/>
            <a:ext cx="548640" cy="420624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25880" y="3273552"/>
            <a:ext cx="2743200" cy="420624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Channels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69080" y="3273552"/>
            <a:ext cx="5212080" cy="420624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Hybrid PQC-TLS + mTLS north/south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60" y="3273552"/>
            <a:ext cx="2103120" cy="420624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1">
                <a:solidFill>
                  <a:srgbClr val="A24BD0"/>
                </a:solidFill>
                <a:latin typeface="Arial"/>
              </a:rPr>
              <a:t>PQC+PUF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3694176"/>
            <a:ext cx="548640" cy="420624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25880" y="3694176"/>
            <a:ext cx="2743200" cy="420624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Trust decision input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69080" y="3694176"/>
            <a:ext cx="5212080" cy="420624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Consume entity-state / alert stream as input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81160" y="3694176"/>
            <a:ext cx="2103120" cy="420624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1">
                <a:solidFill>
                  <a:srgbClr val="A24BD0"/>
                </a:solidFill>
                <a:latin typeface="Arial"/>
              </a:rPr>
              <a:t>ZTNA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114800"/>
            <a:ext cx="548640" cy="420624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25880" y="4114800"/>
            <a:ext cx="2743200" cy="420624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Micro-segmentation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69080" y="4114800"/>
            <a:ext cx="5212080" cy="420624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Map trust graph to ZTNA segments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81160" y="4114800"/>
            <a:ext cx="2103120" cy="420624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1">
                <a:solidFill>
                  <a:srgbClr val="A24BD0"/>
                </a:solidFill>
                <a:latin typeface="Arial"/>
              </a:rPr>
              <a:t>ZTNA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4535424"/>
            <a:ext cx="548640" cy="420624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25880" y="4535424"/>
            <a:ext cx="2743200" cy="420624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Enforcement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69080" y="4535424"/>
            <a:ext cx="5212080" cy="420624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Edge adapter ↔ ZTNA gateway / NAC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81160" y="4535424"/>
            <a:ext cx="2103120" cy="420624"/>
          </a:xfrm>
          <a:prstGeom prst="rect">
            <a:avLst/>
          </a:prstGeom>
          <a:solidFill>
            <a:srgbClr val="1A2536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1">
                <a:solidFill>
                  <a:srgbClr val="A24BD0"/>
                </a:solidFill>
                <a:latin typeface="Arial"/>
              </a:rPr>
              <a:t>ZTNA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956048"/>
            <a:ext cx="548640" cy="420624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25880" y="4956048"/>
            <a:ext cx="2743200" cy="420624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Unified score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69080" y="4956048"/>
            <a:ext cx="5212080" cy="420624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Add identity + channel components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81160" y="4956048"/>
            <a:ext cx="2103120" cy="420624"/>
          </a:xfrm>
          <a:prstGeom prst="rect">
            <a:avLst/>
          </a:prstGeom>
          <a:solidFill>
            <a:srgbClr val="16202E"/>
          </a:solidFill>
          <a:ln w="635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l"/>
            <a:r>
              <a:rPr sz="1100" b="1">
                <a:solidFill>
                  <a:srgbClr val="9BD534"/>
                </a:solidFill>
                <a:latin typeface="Arial"/>
              </a:rPr>
              <a:t>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8B8"/>
                </a:solidFill>
                <a:latin typeface="Arial"/>
              </a:rPr>
              <a:t>SenseL EdgeX  ·  by AvocadoAI  ·  Confidential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6437376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CA8B8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841248"/>
          </a:xfrm>
          <a:prstGeom prst="rect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BD534"/>
                </a:solidFill>
                <a:latin typeface="Arial"/>
              </a:rPr>
              <a:t>THE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Phased Roadmap</a:t>
            </a:r>
          </a:p>
        </p:txBody>
      </p:sp>
      <p:pic>
        <p:nvPicPr>
          <p:cNvPr id="6" name="Picture 5" descr="sensel-edge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274320"/>
            <a:ext cx="1874519" cy="124845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7240" y="1481328"/>
            <a:ext cx="10607040" cy="16459"/>
          </a:xfrm>
          <a:prstGeom prst="rect">
            <a:avLst/>
          </a:prstGeom>
          <a:solidFill>
            <a:srgbClr val="2A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1005840" cy="786384"/>
          </a:xfrm>
          <a:prstGeom prst="roundRect">
            <a:avLst/>
          </a:prstGeom>
          <a:solidFill>
            <a:srgbClr val="16202E"/>
          </a:solidFill>
          <a:ln w="19050">
            <a:solidFill>
              <a:srgbClr val="9C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800" b="1">
                <a:solidFill>
                  <a:srgbClr val="9CA8B8"/>
                </a:solidFill>
                <a:latin typeface="Arial"/>
              </a:rPr>
              <a:t>P0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1737360"/>
            <a:ext cx="9464040" cy="786384"/>
          </a:xfrm>
          <a:prstGeom prst="roundRect">
            <a:avLst/>
          </a:prstGeom>
          <a:solidFill>
            <a:srgbClr val="16202E"/>
          </a:solidFill>
          <a:ln w="9525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847088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Baseline (today)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194560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CA8B8"/>
                </a:solidFill>
                <a:latin typeface="Arial"/>
              </a:rPr>
              <a:t>Behavioral trust + CTI distribution + passive detection live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651760"/>
            <a:ext cx="1005840" cy="786384"/>
          </a:xfrm>
          <a:prstGeom prst="roundRect">
            <a:avLst/>
          </a:prstGeom>
          <a:solidFill>
            <a:srgbClr val="16202E"/>
          </a:solidFill>
          <a:ln w="19050">
            <a:solidFill>
              <a:srgbClr val="A24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800" b="1">
                <a:solidFill>
                  <a:srgbClr val="A24BD0"/>
                </a:solidFill>
                <a:latin typeface="Arial"/>
              </a:rPr>
              <a:t>P1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2651760"/>
            <a:ext cx="9464040" cy="786384"/>
          </a:xfrm>
          <a:prstGeom prst="roundRect">
            <a:avLst/>
          </a:prstGeom>
          <a:solidFill>
            <a:srgbClr val="16202E"/>
          </a:solidFill>
          <a:ln w="9525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2761488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A24BD0"/>
                </a:solidFill>
                <a:latin typeface="Arial"/>
              </a:rPr>
              <a:t>Identity root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108960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CA8B8"/>
                </a:solidFill>
                <a:latin typeface="Arial"/>
              </a:rPr>
              <a:t>PUF device identity · attestation · anti-spoof enrollment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566160"/>
            <a:ext cx="1005840" cy="786384"/>
          </a:xfrm>
          <a:prstGeom prst="roundRect">
            <a:avLst/>
          </a:prstGeom>
          <a:solidFill>
            <a:srgbClr val="16202E"/>
          </a:solidFill>
          <a:ln w="19050">
            <a:solidFill>
              <a:srgbClr val="A24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800" b="1">
                <a:solidFill>
                  <a:srgbClr val="A24BD0"/>
                </a:solidFill>
                <a:latin typeface="Arial"/>
              </a:rPr>
              <a:t>P2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3566160"/>
            <a:ext cx="9464040" cy="786384"/>
          </a:xfrm>
          <a:prstGeom prst="roundRect">
            <a:avLst/>
          </a:prstGeom>
          <a:solidFill>
            <a:srgbClr val="16202E"/>
          </a:solidFill>
          <a:ln w="9525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3675887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A24BD0"/>
                </a:solidFill>
                <a:latin typeface="Arial"/>
              </a:rPr>
              <a:t>Quantum-safe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023360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CA8B8"/>
                </a:solidFill>
                <a:latin typeface="Arial"/>
              </a:rPr>
              <a:t>Hybrid PQC-TLS · signed &amp; verified policy artifacts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480560"/>
            <a:ext cx="1005840" cy="786384"/>
          </a:xfrm>
          <a:prstGeom prst="roundRect">
            <a:avLst/>
          </a:prstGeom>
          <a:solidFill>
            <a:srgbClr val="16202E"/>
          </a:solidFill>
          <a:ln w="19050">
            <a:solidFill>
              <a:srgbClr val="A24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800" b="1">
                <a:solidFill>
                  <a:srgbClr val="A24BD0"/>
                </a:solidFill>
                <a:latin typeface="Arial"/>
              </a:rPr>
              <a:t>P3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20240" y="4480560"/>
            <a:ext cx="9464040" cy="786384"/>
          </a:xfrm>
          <a:prstGeom prst="roundRect">
            <a:avLst/>
          </a:prstGeom>
          <a:solidFill>
            <a:srgbClr val="16202E"/>
          </a:solidFill>
          <a:ln w="9525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560" y="4590288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A24BD0"/>
                </a:solidFill>
                <a:latin typeface="Arial"/>
              </a:rPr>
              <a:t>Zero-trust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937760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CA8B8"/>
                </a:solidFill>
                <a:latin typeface="Arial"/>
              </a:rPr>
              <a:t>Trust state → ZTNA decisions · micro-seg · enforcement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394960"/>
            <a:ext cx="1005840" cy="786384"/>
          </a:xfrm>
          <a:prstGeom prst="roundRect">
            <a:avLst/>
          </a:prstGeom>
          <a:solidFill>
            <a:srgbClr val="16202E"/>
          </a:solidFill>
          <a:ln w="19050">
            <a:solidFill>
              <a:srgbClr val="9BD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800" b="1">
                <a:solidFill>
                  <a:srgbClr val="9BD534"/>
                </a:solidFill>
                <a:latin typeface="Arial"/>
              </a:rPr>
              <a:t>P4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20240" y="5394960"/>
            <a:ext cx="9464040" cy="786384"/>
          </a:xfrm>
          <a:prstGeom prst="roundRect">
            <a:avLst/>
          </a:prstGeom>
          <a:solidFill>
            <a:srgbClr val="16202E"/>
          </a:solidFill>
          <a:ln w="9525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5504688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BD534"/>
                </a:solidFill>
                <a:latin typeface="Arial"/>
              </a:rPr>
              <a:t>Unified trust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852160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CA8B8"/>
                </a:solidFill>
                <a:latin typeface="Arial"/>
              </a:rPr>
              <a:t>One score fusing identity, channel, behavior,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4008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BD534"/>
                </a:solidFill>
                <a:latin typeface="Arial"/>
              </a:rPr>
              <a:t>Incremental · backward-compatible · reversible (hybrid before cutover, audit before enforce)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8B8"/>
                </a:solidFill>
                <a:latin typeface="Arial"/>
              </a:rPr>
              <a:t>SenseL EdgeX  ·  by AvocadoAI  ·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37376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CA8B8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841248"/>
          </a:xfrm>
          <a:prstGeom prst="rect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BD534"/>
                </a:solidFill>
                <a:latin typeface="Arial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Open Questions for Partners</a:t>
            </a:r>
          </a:p>
        </p:txBody>
      </p:sp>
      <p:pic>
        <p:nvPicPr>
          <p:cNvPr id="6" name="Picture 5" descr="sensel-edge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274320"/>
            <a:ext cx="1874519" cy="124845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7240" y="1481328"/>
            <a:ext cx="10607040" cy="16459"/>
          </a:xfrm>
          <a:prstGeom prst="rect">
            <a:avLst/>
          </a:prstGeom>
          <a:solidFill>
            <a:srgbClr val="2A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109728" cy="676656"/>
          </a:xfrm>
          <a:prstGeom prst="rect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691640"/>
            <a:ext cx="10424160" cy="676656"/>
          </a:xfrm>
          <a:prstGeom prst="roundRect">
            <a:avLst/>
          </a:prstGeom>
          <a:solidFill>
            <a:srgbClr val="16202E"/>
          </a:solidFill>
          <a:ln w="762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764792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BD534"/>
                </a:solidFill>
                <a:latin typeface="Arial"/>
              </a:rPr>
              <a:t>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746504"/>
            <a:ext cx="7772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CA8B8"/>
                </a:solidFill>
                <a:latin typeface="Arial"/>
              </a:rPr>
              <a:t>Can PQC handshakes / signature checks meet OT control-loop timing on constrained edge hardware?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478024"/>
            <a:ext cx="109728" cy="676656"/>
          </a:xfrm>
          <a:prstGeom prst="rect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2478024"/>
            <a:ext cx="10424160" cy="676656"/>
          </a:xfrm>
          <a:prstGeom prst="roundRect">
            <a:avLst/>
          </a:prstGeom>
          <a:solidFill>
            <a:srgbClr val="16202E"/>
          </a:solidFill>
          <a:ln w="762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551176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BD534"/>
                </a:solidFill>
                <a:latin typeface="Arial"/>
              </a:rPr>
              <a:t>PUF carrier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532888"/>
            <a:ext cx="7772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CA8B8"/>
                </a:solidFill>
                <a:latin typeface="Arial"/>
              </a:rPr>
              <a:t>Do target gateways have a PUF source (TPM / SE / SRAM-PUF), or is a secure element required?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264408"/>
            <a:ext cx="109728" cy="676656"/>
          </a:xfrm>
          <a:prstGeom prst="rect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3264408"/>
            <a:ext cx="10424160" cy="676656"/>
          </a:xfrm>
          <a:prstGeom prst="roundRect">
            <a:avLst/>
          </a:prstGeom>
          <a:solidFill>
            <a:srgbClr val="16202E"/>
          </a:solidFill>
          <a:ln w="762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33756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BD534"/>
                </a:solidFill>
                <a:latin typeface="Arial"/>
              </a:rPr>
              <a:t>Offline behavior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319272"/>
            <a:ext cx="7772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CA8B8"/>
                </a:solidFill>
                <a:latin typeface="Arial"/>
              </a:rPr>
              <a:t>How to verify attestation / artifacts when the edge is disconnected (grace period? cached root)?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050791"/>
            <a:ext cx="109728" cy="676656"/>
          </a:xfrm>
          <a:prstGeom prst="rect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0120" y="4050791"/>
            <a:ext cx="10424160" cy="676656"/>
          </a:xfrm>
          <a:prstGeom prst="roundRect">
            <a:avLst/>
          </a:prstGeom>
          <a:solidFill>
            <a:srgbClr val="16202E"/>
          </a:solidFill>
          <a:ln w="762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123944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BD534"/>
                </a:solidFill>
                <a:latin typeface="Arial"/>
              </a:rPr>
              <a:t>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105655"/>
            <a:ext cx="7772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CA8B8"/>
                </a:solidFill>
                <a:latin typeface="Arial"/>
              </a:rPr>
              <a:t>Fail-open vs. fail-secure for ZTNA isolation in a live OT environment?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837176"/>
            <a:ext cx="109728" cy="676656"/>
          </a:xfrm>
          <a:prstGeom prst="rect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0120" y="4837176"/>
            <a:ext cx="10424160" cy="676656"/>
          </a:xfrm>
          <a:prstGeom prst="roundRect">
            <a:avLst/>
          </a:prstGeom>
          <a:solidFill>
            <a:srgbClr val="16202E"/>
          </a:solidFill>
          <a:ln w="762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10328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BD534"/>
                </a:solidFill>
                <a:latin typeface="Arial"/>
              </a:rPr>
              <a:t>Key 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892040"/>
            <a:ext cx="7772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CA8B8"/>
                </a:solidFill>
                <a:latin typeface="Arial"/>
              </a:rPr>
              <a:t>Rotation, revocation, and alignment with our tenant model.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623560"/>
            <a:ext cx="109728" cy="676656"/>
          </a:xfrm>
          <a:prstGeom prst="rect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0120" y="5623560"/>
            <a:ext cx="10424160" cy="676656"/>
          </a:xfrm>
          <a:prstGeom prst="roundRect">
            <a:avLst/>
          </a:prstGeom>
          <a:solidFill>
            <a:srgbClr val="16202E"/>
          </a:solidFill>
          <a:ln w="7620">
            <a:solidFill>
              <a:srgbClr val="2A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696712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BD534"/>
                </a:solidFill>
                <a:latin typeface="Arial"/>
              </a:rPr>
              <a:t>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5678424"/>
            <a:ext cx="7772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CA8B8"/>
                </a:solidFill>
                <a:latin typeface="Arial"/>
              </a:rPr>
              <a:t>PQC algorithm selection (ML-KEM / ML-DSA) and migration timeline vs. NIST guidance.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8B8"/>
                </a:solidFill>
                <a:latin typeface="Arial"/>
              </a:rPr>
              <a:t>SenseL EdgeX  ·  by AvocadoAI  · 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37376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CA8B8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BD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A24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nsel-edge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7" y="1554480"/>
            <a:ext cx="4206240" cy="28014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297680"/>
            <a:ext cx="103628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Let's build the OT Trust Layer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BD534"/>
                </a:solidFill>
                <a:latin typeface="Arial"/>
              </a:rPr>
              <a:t>Identity (PUF)  ·  Channel (PQC)  ·  Access (ZTNA)  ·  Behavior (SenseL)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CA8B8"/>
                </a:solidFill>
                <a:latin typeface="Arial"/>
              </a:rPr>
              <a:t>SenseL EdgeX  ·  by AvocadoAI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